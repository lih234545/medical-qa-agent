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69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0"/>
  </p:sldIdLst>
  <p:sldSz cx="12192000" cy="6858000"/>
  <p:notesSz cx="6858000" cy="9144000"/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44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62D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2884988-254C-4160-B9E0-5373406B38A2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62D8BF"/>
              </a:solidFill>
              <a:prstDash val="solid"/>
            </a:ln>
          </a:left>
          <a:right>
            <a:ln w="9525" cmpd="sng">
              <a:solidFill>
                <a:srgbClr val="62D8BF"/>
              </a:solidFill>
              <a:prstDash val="solid"/>
            </a:ln>
          </a:right>
          <a:top>
            <a:ln w="9525" cmpd="sng">
              <a:solidFill>
                <a:srgbClr val="62D8BF"/>
              </a:solidFill>
              <a:prstDash val="solid"/>
            </a:ln>
          </a:top>
          <a:bottom>
            <a:ln w="9525" cmpd="sng">
              <a:solidFill>
                <a:srgbClr val="62D8BF"/>
              </a:solidFill>
              <a:prstDash val="solid"/>
            </a:ln>
          </a:bottom>
          <a:insideH>
            <a:ln w="9525" cmpd="sng">
              <a:solidFill>
                <a:srgbClr val="62D8BF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62D8BF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62D8BF">
              <a:lumMod val="10000"/>
              <a:lumOff val="90000"/>
            </a:srgbClr>
          </a:solidFill>
        </a:fill>
      </a:tcStyle>
    </a:band2H>
    <a:band1V>
      <a:tcStyle>
        <a:tcBdr/>
        <a:fill>
          <a:solidFill>
            <a:srgbClr val="62D8BF">
              <a:lumMod val="10000"/>
              <a:lumOff val="9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62D8BF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62D8BF"/>
              </a:solidFill>
              <a:prstDash val="solid"/>
            </a:ln>
          </a:right>
          <a:top>
            <a:ln w="9525" cmpd="sng">
              <a:solidFill>
                <a:srgbClr val="62D8BF"/>
              </a:solidFill>
              <a:prstDash val="solid"/>
            </a:ln>
          </a:top>
          <a:bottom>
            <a:ln w="9525" cmpd="sng">
              <a:solidFill>
                <a:srgbClr val="62D8BF"/>
              </a:solidFill>
              <a:prstDash val="solid"/>
            </a:ln>
          </a:bottom>
          <a:insideH>
            <a:ln w="9525" cmpd="sng">
              <a:solidFill>
                <a:srgbClr val="62D8BF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62D8BF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62D8BF"/>
              </a:solidFill>
              <a:prstDash val="solid"/>
            </a:ln>
          </a:left>
          <a:right>
            <a:ln w="9525" cmpd="sng">
              <a:solidFill>
                <a:srgbClr val="62D8BF"/>
              </a:solidFill>
              <a:prstDash val="solid"/>
            </a:ln>
          </a:right>
          <a:top>
            <a:ln w="9525" cmpd="sng">
              <a:solidFill>
                <a:srgbClr val="62D8BF"/>
              </a:solidFill>
              <a:prstDash val="solid"/>
            </a:ln>
          </a:top>
          <a:bottom>
            <a:ln w="9525" cmpd="sng">
              <a:solidFill>
                <a:srgbClr val="62D8BF"/>
              </a:solidFill>
              <a:prstDash val="solid"/>
            </a:ln>
          </a:bottom>
          <a:insideH>
            <a:ln w="9525" cmpd="sng">
              <a:solidFill>
                <a:srgbClr val="62D8BF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62D8BF"/>
          </a:solidFill>
        </a:fill>
      </a:tcStyle>
    </a:firstCol>
    <a:lastRow>
      <a:tcTxStyle b="on">
        <a:fontRef idx="none">
          <a:srgbClr val="62D8BF"/>
        </a:fontRef>
      </a:tcTxStyle>
      <a:tcStyle>
        <a:tcBdr>
          <a:left>
            <a:ln w="9525" cmpd="sng">
              <a:solidFill>
                <a:srgbClr val="62D8BF"/>
              </a:solidFill>
              <a:prstDash val="solid"/>
            </a:ln>
          </a:left>
          <a:right>
            <a:ln w="9525" cmpd="sng">
              <a:solidFill>
                <a:srgbClr val="62D8BF"/>
              </a:solidFill>
              <a:prstDash val="solid"/>
            </a:ln>
          </a:right>
          <a:top>
            <a:ln w="9525" cmpd="sng">
              <a:solidFill>
                <a:srgbClr val="62D8BF"/>
              </a:solidFill>
              <a:prstDash val="solid"/>
            </a:ln>
          </a:top>
          <a:bottom>
            <a:ln w="9525" cmpd="sng">
              <a:solidFill>
                <a:srgbClr val="62D8BF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rgbClr val="62D8BF"/>
              </a:solidFill>
              <a:prstDash val="solid"/>
            </a:ln>
          </a:right>
          <a:top>
            <a:ln w="9525" cmpd="sng">
              <a:solidFill>
                <a:srgbClr val="62D8BF"/>
              </a:solidFill>
              <a:prstDash val="solid"/>
            </a:ln>
          </a:top>
          <a:bottom>
            <a:ln w="9525" cmpd="sng">
              <a:solidFill>
                <a:srgbClr val="62D8BF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rgbClr val="62D8BF"/>
        </a:fontRef>
      </a:tcTxStyle>
      <a:tcStyle>
        <a:tcBdr>
          <a:left>
            <a:ln w="9525" cmpd="sng">
              <a:solidFill>
                <a:srgbClr val="62D8BF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62D8BF"/>
              </a:solidFill>
              <a:prstDash val="solid"/>
            </a:ln>
          </a:top>
          <a:bottom>
            <a:ln w="9525" cmpd="sng">
              <a:solidFill>
                <a:srgbClr val="62D8BF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62D8BF"/>
              </a:solidFill>
              <a:prstDash val="solid"/>
            </a:ln>
          </a:left>
          <a:right>
            <a:ln w="9525" cmpd="sng">
              <a:solidFill>
                <a:srgbClr val="62D8BF"/>
              </a:solidFill>
              <a:prstDash val="solid"/>
            </a:ln>
          </a:right>
          <a:top>
            <a:ln w="9525" cmpd="sng">
              <a:solidFill>
                <a:srgbClr val="62D8BF"/>
              </a:solidFill>
              <a:prstDash val="solid"/>
            </a:ln>
          </a:top>
          <a:bottom>
            <a:ln w="9525" cmpd="sng">
              <a:solidFill>
                <a:srgbClr val="62D8BF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62D8BF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62D8BF"/>
          </a:solidFill>
        </a:fill>
      </a:tcStyle>
    </a:firstRow>
    <a:nwCell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62D8BF"/>
              </a:solidFill>
              <a:prstDash val="solid"/>
            </a:ln>
          </a:left>
          <a:right>
            <a:ln w="9525" cmpd="sng">
              <a:solidFill>
                <a:srgbClr val="62D8BF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62D8BF"/>
              </a:solidFill>
              <a:prstDash val="solid"/>
            </a:ln>
          </a:top>
          <a:bottom>
            <a:ln w="9525" cmpd="sng">
              <a:solidFill>
                <a:srgbClr val="62D8BF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62D8B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744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9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各位老师、同学，大家好！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我是今天的汇报人。今天我带来的答辩题目是《基于 LangChain + FAISS + 通义千问的医疗问诊 AI Agent》。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这是一个利用本地知识库驱动的、旨在提供可信医疗问答服务的智能助手项目。接下来，我将从项目背景、技术架构、核心功能以及演示等方面进行详细介绍。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这一页主要介绍了我们项目的背景与核心目标。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首先，业务场景非常明确，就是处理用户关于疾病、药品和健康的咨询。但我们面临一个巨大的痛点：通用大模型容易产生“幻觉”，也就是编造事实，这在医疗领域是绝对不允许的，因为它关乎生命安全。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因此，我们的核心目标非常坚定：必须做到“零幻觉”。系统只能基于我们本地部署的权威知识库来回答问题，如果知识库中没有相关信息，系统就直接拒答，绝不胡编乱造。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最后，在交付形式上，我们兼顾了技术人员和普通用户，提供命令行和Web界面两种交互方式。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右侧的示意图展示了系统实际的交互逻辑：对于用户的提问，系统严格依据权威知识库进行回复，确保专业性和安全性。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本页重点阐述了医疗问答系统的需求分析，主要包含三个维度：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数据层面：我们建立了结构化的本地知识库，涵盖疾病百科、药品说明和真实的医患问答，并统一存储在/data目录下，确保数据的可管理性。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技术层面：采用 LangChain 作为开发框架来串联整个流程，利用 FAISS 进行高效的向量检索，并以阿里百炼的通义千问作为大模型基座，保障生成能力。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规则层面：为了确保回答的专业性和安全性，我们设定了严格的 Agent 执行规则，包括相关性过滤、基于检索结果回答（RAG）以及无结果时的标准化拒答机制。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底部展示了具体的拒答话术，这是系统的最后一道防线，确保在信息缺失时不产生误导性回答。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大家好，今天我们来深入了解一下什么是RAG，也就是检索增强生成。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简单来说，RAG的核心逻辑就是“先检索、后生成”，这就像是让大模型进行一场“开卷考试”。它不再是闭卷作答，而是可以查阅真实的资料。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左边，传统的纯大模型往往存在容易产生幻觉、回答不可靠以及无法溯源的问题，这在医疗等高风险领域是绝对不允许的。而右边，RAG架构则完美解决了这些痛点，它让回答有据可依、来源可追溯，并且整体更加可控可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我们的项目正是利用了这一技术，来确保医疗回答的专业性和安全性。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这一页展示了我们医疗问答系统的 RAG 整体技术架构流程。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整个流程分为四个主要前置步骤：从用户的自然语言提问开始，经过医疗专属 Agent 的意图解析，触发检索工具，并通过 FAISS 向量库进行高效的相似性匹配。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的关键在于中间的“相似度阈值判断”。我们设定了0.5的阈值，如果检索结果的相似度高于这个值，说明知识库中有足够相关的权威资料，系统会将这些资料作为上下文注入给通义千问模型，让模型基于这些资料生成可溯源的回答，这有效避免了模型的“幻觉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如果低于阈值或无结果，系统会触发安全兜底机制，直接返回标准化的拒答话术，引导用户咨询专业医生，确保医疗建议的安全性。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最后，无论是生成的回答还是拒答，都会统一封装后返回给用户，形成一个完整的交互闭环。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各位好，这一页我们来深入探讨项目的模块设计与分层解耦架构。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大家看屏幕中间的核心部分，我们采用了自上而下的四层架构设计：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最顶层是统一入口层，通过 main.py 实现，它支持构建、命令行和 Web 服务三种模式的一键切换，保证了入口的收敛。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第二层是交互适配层，我们通过 cli.py 和 web.py 分别提供轻量的命令行交互和可视化的 Gradio 网页交互，满足不同场景的使用需求。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第三层是整个系统的大脑——智能核心层，也就是 agent.py，它集成了 RAG 检索增强、智能 Agent 调度以及业务规则引擎，负责处理所有复杂的业务逻辑。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最底层是数据基座层，通过 knowledge_base.py 实现多源文档的解析、向量索引的构建以及知识库的管理，为上层提供坚实的数据支持。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再看左侧，我们设计了独立的全局配置层，负责管理路径、模型参数、阈值和文案等配置项，并动态注入到核心层和数据层，实现了配置与业务的分离。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最后，看右侧的亮点总结，这种架构最大的优势在于“业务逻辑归一化”，我们只需要维护一份核心业务代码，界面层仅仅是一个轻量的“壳”，这不仅降低了维护成本，还极大地提升了系统的扩展性。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这一页我们来探讨项目中的第一个技术难点：如何对三类异构数据进行统一处理。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大家看左边，我们的数据源非常复杂，包括结构化的JSON疾病百科、半结构化的Markdown药品说明书，以及纯文本的TXT医患问答。这三种数据格式完全不同，直接处理会非常困难。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我们的解决思路是建立一个标准化的处理流水线：首先将它们统一成标准的文档格式，然后利用通义千问的Embedding模型进行向量化，最后存入FAISS向量库。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在右侧，我详细列出了针对每种数据的清洗策略：对于JSON，我们将字段拼接成自然语言；对于Markdown，利用标题层级进行切分；对于TXT问答，我们利用空行进行聚类。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最终，我们成功将12篇疾病百科、12篇药品手册和17组医患问答，共计41条高质量的文档存入了向量库，为后续的检索打下了坚实的基础。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这一页我们来探讨相似度阈值过滤的难点与解决方案。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首先，左侧展示了原始的问题：FAISS 默认返回的是 L2 距离，这个数值的范围是不固定的，所以直接用 0.5 作为阈值是没有意义的，我们无法判断这个数值代表的是高匹配还是低匹配。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中间是解决这个问题的关键公式：余弦相似度 = 1 - 距离 / 2。但这里有一个非常重要的前提，就是必须对向量进行 L2 归一化，只有这样，L2 距离的计算结果才等价于余弦距离，这个转换公式才成立。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右侧是优化后的效果：通过转换，相似度被映射到了 0 到 1 的区间内，0.5 就成了一个直观的分界线，代表中等匹配度。低于 0.5 的结果，我们就直接过滤掉，触发拒答机制，从而保证回答的质量。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底部的示意图直观地展示了这个判定逻辑：以 0.5 为界，左边是拒答区，右边是回答区。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这一页我们来深入探讨如何解决“把规则焊死进Agent”这个难题。这是医疗问答场景中至关重要的一环，直接关系到回答的安全性。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大家看左边的流程图，这是我们设计的严格决策路径：当Agent收到问题时，第一步不是直接回答，而是强制调用检索工具。然后进行关键判断：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如果工具返回了有效内容，Agent只能基于这些内容进行回答，绝对禁止调用自身的预训练知识进行补充或润色，并且必须附上来源和医嘱建议。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如果工具返回无结果，Agent必须触发拒答机制，这里要特别强调“绝不臆造”，这是红线。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右边是我们的四大固化策略：从系统提示词的源头约束，到零容忍的拒答机制，再到严格屏蔽预训练知识的干扰，最后利用LangChain的新API将这些规则代码化，确保Agent的行为可控、可预期。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各位好，这一页我们来现场演示一下系统的实际运行效果。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我们支持两种主要的部署和使用模式：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左侧是命令行交互模式，非常轻量，适合在服务器后台运行或者进行快速的脚本调用。我们可以看到，它能够处理正常的业务咨询，但一旦触及敏感数据，比如客户名单，系统会立即拒绝回答。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右侧是网页可视化模式，启动后会生成一个本地的 Web 服务，界面更加友好，适合日常办公使用。无论是数据查询还是业务咨询，它都能精准响应，同时严守安全底线。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这也正是我们项目的核心价值所在：不仅能回答，更知道什么不能回答，确保企业信息的绝对安全。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各位好，这一页展示了我们对模型进行的关键测试验证结论。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我们选取了五个具有代表性的测试点：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针对“二甲双胍漏服补双倍”的误区，模型明确指出不能补双倍，并给出了正确的服药建议，符合预期。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在“2型糖尿病症状”的询问中，模型准确列出了“三多一少”及伴随症状，回答完整准确。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对于“孕妇能否吃布洛芬”这一高危问题，模型给出了明确的“禁用”警示，体现了良好的安全底线。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关于“氨氯地平服用时间”，模型依据人体血压节律建议早晨服用，回答科学。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5. 最后，对于完全无关的“天气查询”，模型触发了标准的拒答流程，没有产生幻觉或编造信息。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综合来看，模型在既定知识库范围内回答准确，在超出范围时能有效拒答，验证结果符合预期。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在本次开发过程中，我们遇到了几个典型的技术挑战，但都通过工程化的手段逐一解决。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首先是LangChain的版本升级问题，1.2版本移除了旧的AgentExecutor API，导致代码无法运行。我们的解决方案是拥抱新架构，使用基于LangGraph的create_agent接口，并统一了消息格式，这不仅解决了兼容性问题，还提升了系统的灵活性。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其次是向量检索的阈值问题，FAISS的L2距离缺乏直观的业务解释性。我们通过向量归一化，将其转换为0到1之间的余弦相似度，这样设定0.5作为阈值就非常直观，也更容易被业务理解。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最后是Windows环境下的编码问题，这是一个典型的跨平台兼容性问题。我们通过在程序入口强制设置标准输出为UTF-8，彻底解决了中文和Emoji的报错问题。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这些问题的解决不仅修复了Bug，更沉淀为我们工程能力的一部分，提升了系统的稳定性和可维护性。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各位好，这一页我们来对项目进行总结与展望。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已实现的成果方面，我们重点完成了四个核心任务：首先是解决了医疗领域的数据孤岛问题，实现了三类异构数据的统一入库；其次，我们建立了智能的相似度阈值过滤机制，确保了回答素材的精准性；第三，通过严格的规则约束Agent，从源头杜绝了AI的虚假和臆造回答；最后，我们部署了命令行和Web双端交互模式，兼顾了开发效率和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将从三个方向继续发力：一是通过引入文档分块和重排技术，进一步增强知识库的检索效率和规模；二是优化交互体验，增加多轮对话记忆和来源引用，让回答更连贯、更可信；三是持续深耕医疗垂直领域，增加专科知识库，并强化合规审核，确保系统的专业性和安全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我们的目标始终如一：让AI医疗问答真正做到“有据可依、绝不乱说”。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各位好，这一页我们来对项目进行总结与展望。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已实现的成果方面，我们重点完成了四个核心任务：首先是解决了医疗领域的数据孤岛问题，实现了三类异构数据的统一入库；其次，我们建立了智能的相似度阈值过滤机制，确保了回答素材的精准性；第三，通过严格的规则约束Agent，从源头杜绝了AI的虚假和臆造回答；最后，我们部署了命令行和Web双端交互模式，兼顾了开发效率和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将从三个方向继续发力：一是通过引入文档分块和重排技术，进一步增强知识库的检索效率和规模；二是优化交互体验，增加多轮对话记忆和来源引用，让回答更连贯、更可信；三是持续深耕医疗垂直领域，增加专科知识库，并强化合规审核，确保系统的专业性和安全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我们的目标始终如一：让AI医疗问答真正做到“有据可依、绝不乱说”。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9.svg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1.svg"/><Relationship Id="rId11" Type="http://schemas.openxmlformats.org/officeDocument/2006/relationships/image" Target="../media/image40.png"/><Relationship Id="rId10" Type="http://schemas.openxmlformats.org/officeDocument/2006/relationships/image" Target="../media/image39.svg"/><Relationship Id="rId1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image" Target="../media/image49.svg"/><Relationship Id="rId21" Type="http://schemas.openxmlformats.org/officeDocument/2006/relationships/image" Target="../media/image48.png"/><Relationship Id="rId20" Type="http://schemas.openxmlformats.org/officeDocument/2006/relationships/tags" Target="../tags/tag15.xml"/><Relationship Id="rId2" Type="http://schemas.openxmlformats.org/officeDocument/2006/relationships/tags" Target="../tags/tag3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image" Target="../media/image47.svg"/><Relationship Id="rId15" Type="http://schemas.openxmlformats.org/officeDocument/2006/relationships/image" Target="../media/image46.png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image" Target="../media/image45.svg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0.png"/><Relationship Id="rId3" Type="http://schemas.openxmlformats.org/officeDocument/2006/relationships/tags" Target="../tags/tag18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63.svg"/><Relationship Id="rId13" Type="http://schemas.openxmlformats.org/officeDocument/2006/relationships/image" Target="../media/image62.png"/><Relationship Id="rId12" Type="http://schemas.openxmlformats.org/officeDocument/2006/relationships/image" Target="../media/image8.svg"/><Relationship Id="rId11" Type="http://schemas.openxmlformats.org/officeDocument/2006/relationships/image" Target="../media/image61.png"/><Relationship Id="rId10" Type="http://schemas.openxmlformats.org/officeDocument/2006/relationships/image" Target="../media/image60.svg"/><Relationship Id="rId1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EB89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4826000"/>
            <a:ext cx="2540000" cy="2540000"/>
          </a:xfrm>
          <a:prstGeom prst="ellipse">
            <a:avLst/>
          </a:prstGeom>
          <a:solidFill>
            <a:srgbClr val="2EB89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698500"/>
            <a:ext cx="635000" cy="152400"/>
          </a:xfrm>
          <a:prstGeom prst="roundRect">
            <a:avLst>
              <a:gd name="adj" fmla="val 0"/>
            </a:avLst>
          </a:prstGeom>
          <a:solidFill>
            <a:srgbClr val="2EB8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49300" y="457200"/>
            <a:ext cx="152400" cy="635000"/>
          </a:xfrm>
          <a:prstGeom prst="roundRect">
            <a:avLst>
              <a:gd name="adj" fmla="val 0"/>
            </a:avLst>
          </a:prstGeom>
          <a:solidFill>
            <a:srgbClr val="2EB8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2032000"/>
            <a:ext cx="1117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本地知识库驱动的可信医疗问答助手</a:t>
            </a:r>
            <a:endParaRPr lang="en-US" sz="48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endParaRPr lang="en-US" sz="4800">
              <a:solidFill>
                <a:srgbClr val="2EB89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3429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25000"/>
              </a:lnSpc>
              <a:buSzTx/>
              <a:defRPr/>
            </a:pPr>
            <a:endParaRPr lang="en-US" sz="34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048000" y="4318000"/>
            <a:ext cx="1016000" cy="1016000"/>
          </a:xfrm>
          <a:prstGeom prst="ellipse">
            <a:avLst/>
          </a:prstGeom>
          <a:solidFill>
            <a:srgbClr val="2EB89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2000" y="4572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588000" y="4318000"/>
            <a:ext cx="1016000" cy="1016000"/>
          </a:xfrm>
          <a:prstGeom prst="ellipse">
            <a:avLst/>
          </a:prstGeom>
          <a:solidFill>
            <a:srgbClr val="2EB89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4572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128000" y="4318000"/>
            <a:ext cx="1016000" cy="1016000"/>
          </a:xfrm>
          <a:prstGeom prst="ellipse">
            <a:avLst/>
          </a:prstGeom>
          <a:solidFill>
            <a:srgbClr val="2EB89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4572000"/>
            <a:ext cx="508000" cy="508000"/>
          </a:xfrm>
          <a:prstGeom prst="rect">
            <a:avLst/>
          </a:prstGeom>
        </p:spPr>
      </p:pic>
      <p:cxnSp>
        <p:nvCxnSpPr>
          <p:cNvPr id="14" name="Connector 14"/>
          <p:cNvCxnSpPr/>
          <p:nvPr/>
        </p:nvCxnSpPr>
        <p:spPr>
          <a:xfrm rot="-4297">
            <a:off x="1016004" y="5518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B89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5778500"/>
            <a:ext cx="360362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</a:t>
            </a:r>
            <a:r>
              <a:rPr lang="zh-CN" altLang="en-US" sz="2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</a:t>
            </a:r>
            <a:r>
              <a:rPr lang="en-US" sz="2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2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</a:t>
            </a:r>
            <a:r>
              <a:rPr lang="zh-CN" altLang="en-US" sz="2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六组</a:t>
            </a:r>
            <a:endParaRPr lang="zh-CN" altLang="en-US" sz="2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096000" y="5778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35470" y="5778500"/>
            <a:ext cx="424053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日期：2026年7月15日</a:t>
            </a:r>
            <a:endParaRPr lang="en-US" sz="2800"/>
          </a:p>
        </p:txBody>
      </p:sp>
      <p:sp>
        <p:nvSpPr>
          <p:cNvPr id="19" name="文本框 18"/>
          <p:cNvSpPr txBox="1"/>
          <p:nvPr/>
        </p:nvSpPr>
        <p:spPr>
          <a:xfrm>
            <a:off x="3150235" y="3302000"/>
            <a:ext cx="57397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>
                <a:solidFill>
                  <a:srgbClr val="2EB89B"/>
                </a:solidFill>
                <a:latin typeface="Times New Roman" panose="02020603050405020304" charset="0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基于 LangChain + FAISS + 通义千问的医疗问诊</a:t>
            </a:r>
            <a:r>
              <a:rPr lang="en-US" sz="2800" b="1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800">
                <a:solidFill>
                  <a:srgbClr val="2EB89B"/>
                </a:solidFill>
                <a:latin typeface="Times New Roman" panose="02020603050405020304" charset="0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AI Agent</a:t>
            </a:r>
            <a:endParaRPr lang="zh-CN" altLang="en-US" sz="2800"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2750" y="-320040"/>
            <a:ext cx="2286000" cy="2286000"/>
          </a:xfrm>
          <a:prstGeom prst="ellipse">
            <a:avLst/>
          </a:prstGeom>
          <a:solidFill>
            <a:srgbClr val="2EB89B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486400"/>
            <a:ext cx="1828800" cy="1828800"/>
          </a:xfrm>
          <a:prstGeom prst="ellipse">
            <a:avLst/>
          </a:prstGeom>
          <a:solidFill>
            <a:srgbClr val="2EB89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12529"/>
                </a:solidFill>
                <a:latin typeface="微软雅黑" panose="020B0503020204020204" charset="-122"/>
              </a:defRPr>
            </a:pPr>
            <a:r>
              <a:t>团队分工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11835" y="1457325"/>
          <a:ext cx="10664190" cy="4903470"/>
        </p:xfrm>
        <a:graphic>
          <a:graphicData uri="http://schemas.openxmlformats.org/drawingml/2006/table">
            <a:tbl>
              <a:tblPr firstRow="1" firstCol="1" bandCol="1">
                <a:tableStyleId>{82884988-254C-4160-B9E0-5373406B38A2}</a:tableStyleId>
              </a:tblPr>
              <a:tblGrid>
                <a:gridCol w="1481455"/>
                <a:gridCol w="5924550"/>
                <a:gridCol w="1777365"/>
                <a:gridCol w="1480820"/>
              </a:tblGrid>
              <a:tr h="5448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姓名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负责模块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贡献占比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角色</a:t>
                      </a:r>
                      <a:endParaRPr sz="2000"/>
                    </a:p>
                  </a:txBody>
                  <a:tcPr anchor="ctr" anchorCtr="0"/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buSzTx/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李昊雨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SzTx/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项目总负责 / 系统架构设计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SzTx/>
                        <a:defRPr sz="1200" b="1">
                          <a:solidFill>
                            <a:srgbClr val="2EB89B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21%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SzTx/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主导</a:t>
                      </a:r>
                      <a:endParaRPr sz="2000"/>
                    </a:p>
                  </a:txBody>
                  <a:tcPr anchor="ctr" anchorCtr="0"/>
                </a:tc>
              </a:tr>
              <a:tr h="544830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2000"/>
                        <a:t>李佳宁</a:t>
                      </a:r>
                      <a:endParaRPr lang="zh-CN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文档编写 / 演示准备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defRPr sz="1200" b="1">
                          <a:solidFill>
                            <a:srgbClr val="2EB89B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1</a:t>
                      </a:r>
                      <a:r>
                        <a:rPr lang="en-US" sz="2000"/>
                        <a:t>3</a:t>
                      </a:r>
                      <a:r>
                        <a:rPr sz="2000"/>
                        <a:t>%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成员</a:t>
                      </a:r>
                      <a:endParaRPr sz="2000"/>
                    </a:p>
                  </a:txBody>
                  <a:tcPr anchor="ctr" anchorCtr="0"/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2000"/>
                        <a:t>王秋岚</a:t>
                      </a:r>
                      <a:endParaRPr lang="zh-CN"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核心 Agent 开发 / RAG 流程实现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B89B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1</a:t>
                      </a:r>
                      <a:r>
                        <a:rPr lang="en-US" sz="2000"/>
                        <a:t>1</a:t>
                      </a:r>
                      <a:r>
                        <a:rPr sz="2000"/>
                        <a:t>%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成员</a:t>
                      </a:r>
                      <a:endParaRPr sz="2000"/>
                    </a:p>
                  </a:txBody>
                  <a:tcPr anchor="ctr" anchorCtr="0"/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2000"/>
                        <a:t>李一佳</a:t>
                      </a:r>
                      <a:endParaRPr lang="zh-CN"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知识库数据处理与异构数据解析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B89B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1</a:t>
                      </a:r>
                      <a:r>
                        <a:rPr lang="en-US" sz="2000"/>
                        <a:t>1</a:t>
                      </a:r>
                      <a:r>
                        <a:rPr sz="2000"/>
                        <a:t>%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成员</a:t>
                      </a:r>
                      <a:endParaRPr sz="2000"/>
                    </a:p>
                  </a:txBody>
                  <a:tcPr anchor="ctr" anchorCtr="0"/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2000"/>
                        <a:t>姚紫涵</a:t>
                      </a:r>
                      <a:endParaRPr lang="zh-CN"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FAISS 向量检索 / 阈值过滤算法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B89B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1</a:t>
                      </a:r>
                      <a:r>
                        <a:rPr lang="en-US" sz="2000"/>
                        <a:t>1</a:t>
                      </a:r>
                      <a:r>
                        <a:rPr sz="2000"/>
                        <a:t>%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成员</a:t>
                      </a:r>
                      <a:endParaRPr sz="2000"/>
                    </a:p>
                  </a:txBody>
                  <a:tcPr anchor="ctr" anchorCtr="0"/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2000"/>
                        <a:t>韩艾玲</a:t>
                      </a:r>
                      <a:endParaRPr lang="zh-CN"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测试验证 / 质量保证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B89B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11%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成员</a:t>
                      </a:r>
                      <a:endParaRPr sz="2000"/>
                    </a:p>
                  </a:txBody>
                  <a:tcPr anchor="ctr" anchorCtr="0"/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2000"/>
                        <a:t>于韶涵</a:t>
                      </a:r>
                      <a:endParaRPr lang="zh-CN"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Web 界面开发（Gradio）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B89B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1</a:t>
                      </a:r>
                      <a:r>
                        <a:rPr lang="en-US" sz="2000"/>
                        <a:t>1</a:t>
                      </a:r>
                      <a:r>
                        <a:rPr sz="2000"/>
                        <a:t>%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成员</a:t>
                      </a:r>
                      <a:endParaRPr sz="2000"/>
                    </a:p>
                  </a:txBody>
                  <a:tcPr anchor="ctr" anchorCtr="0"/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2000"/>
                        <a:t>穆思源</a:t>
                      </a:r>
                      <a:endParaRPr lang="zh-CN"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CLI 交互开发 / 入口管理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B89B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1</a:t>
                      </a:r>
                      <a:r>
                        <a:rPr lang="en-US" sz="2000"/>
                        <a:t>1</a:t>
                      </a:r>
                      <a:r>
                        <a:rPr sz="2000"/>
                        <a:t>%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成员</a:t>
                      </a:r>
                      <a:endParaRPr sz="20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508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600" y="171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68400" y="1676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业务场景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68400" y="2057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用户以自然语言形式发起咨询，涵盖疾病症状解读、药品功效查询、用药禁忌提醒及日常健康养生建议等全场景医疗需求。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2667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08000" y="2667000"/>
            <a:ext cx="508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600" y="2857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168400" y="2819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核心痛点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68400" y="3200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通用大模型存在“幻觉”风险，易生成看似专业实则错误的医疗信息。医疗关乎生命安全，此类不可控的编造式回答在该场景下绝对不可接受。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38100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08000" y="3810000"/>
            <a:ext cx="50800" cy="1206500"/>
          </a:xfrm>
          <a:prstGeom prst="roundRect">
            <a:avLst>
              <a:gd name="adj" fmla="val 0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600" y="4038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168400" y="4000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核心目标：零幻觉作答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168400" y="44196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系统仅依据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本地部署的权威医疗知识库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进行精准检索与回答，若知识库无匹配信息则直接拒答，从源头杜绝虚假医疗建议的生成。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5080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" y="5080000"/>
            <a:ext cx="508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600" y="5270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168400" y="5232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交付与交互形式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168400" y="5613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提供两种交互方式：面向技术人员的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命令行终端(CLI)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，便于调试与集成；面向终端用户的可视化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Web网页端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，操作便捷直观。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794565" y="4635435"/>
            <a:ext cx="450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0400" y="1524000"/>
            <a:ext cx="6438900" cy="4883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016000"/>
            <a:ext cx="3048000" cy="3048000"/>
          </a:xfrm>
          <a:prstGeom prst="ellipse">
            <a:avLst/>
          </a:prstGeom>
          <a:solidFill>
            <a:srgbClr val="2DD4B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334000"/>
            <a:ext cx="2540000" cy="2540000"/>
          </a:xfrm>
          <a:prstGeom prst="ellipse">
            <a:avLst/>
          </a:prstGeom>
          <a:solidFill>
            <a:srgbClr val="2DD4B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3467100" cy="3556000"/>
          </a:xfrm>
          <a:prstGeom prst="roundRect">
            <a:avLst>
              <a:gd name="adj" fmla="val 0"/>
            </a:avLst>
          </a:prstGeom>
          <a:solidFill>
            <a:srgbClr val="E0F7FA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3467100" cy="711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98500" y="1651000"/>
            <a:ext cx="30861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本地知识库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" y="24130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📂     核心存储：/data 专属目录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147">
            <a:off x="698513" y="2851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" y="2895600"/>
            <a:ext cx="30861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🩺 </a:t>
            </a:r>
            <a:r>
              <a:rPr lang="en-US" sz="13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疾病百科：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 JSON 格式，覆盖常见病症的症状、病因与诊疗指南，便于快速解析。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💊 </a:t>
            </a:r>
            <a:r>
              <a:rPr lang="en-US" sz="13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药品手册：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 Markdown 文档，详细记录成分、适应症、用法用量及不良反应。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💬 </a:t>
            </a:r>
            <a:r>
              <a:rPr lang="en-US" sz="13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医患问答：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纯文本 TXT 归档，沉淀真实场景下的问诊对话与医生回复案例。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56100" y="1524000"/>
            <a:ext cx="3467100" cy="3556000"/>
          </a:xfrm>
          <a:prstGeom prst="roundRect">
            <a:avLst>
              <a:gd name="adj" fmla="val 0"/>
            </a:avLst>
          </a:prstGeom>
          <a:solidFill>
            <a:srgbClr val="E0F7FA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56100" y="1524000"/>
            <a:ext cx="3467100" cy="711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46600" y="1651000"/>
            <a:ext cx="30861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46600" y="24130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构建高效医疗问答引擎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147">
            <a:off x="4546613" y="2851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40250" y="2870200"/>
            <a:ext cx="30861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🔗 </a:t>
            </a:r>
            <a:r>
              <a:rPr lang="en-US" sz="13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LangChain：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大模型应用开发框架，负责连接知识库、模型与应用逻辑的核心编排。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🧠 </a:t>
            </a:r>
            <a:r>
              <a:rPr lang="en-US" sz="13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FAISS：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轻量级向量数据库，实现对医疗文本的高效向量化存储与相似性检索。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🤖 </a:t>
            </a:r>
            <a:r>
              <a:rPr lang="en-US" sz="13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通义千问：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阿里百炼部署的大模型基座，提供强大的自然语言理解与生成能力。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204200" y="1524000"/>
            <a:ext cx="3467100" cy="3556000"/>
          </a:xfrm>
          <a:prstGeom prst="roundRect">
            <a:avLst>
              <a:gd name="adj" fmla="val 0"/>
            </a:avLst>
          </a:prstGeom>
          <a:solidFill>
            <a:srgbClr val="E0F7FA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204200" y="1524000"/>
            <a:ext cx="3467100" cy="711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94700" y="1651000"/>
            <a:ext cx="30861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Agent 执行规则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94700" y="24130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确保回答准确与安全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147">
            <a:off x="8394713" y="2851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94700" y="2870200"/>
            <a:ext cx="30861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13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严格过滤：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设置相似度阈值 0.5，低于阈值的检索结果直接过滤，避免无关信息干扰。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3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 机制：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答案严格基于检索结果生成，禁止调用模型自身的通用知识，杜绝幻觉。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r>
              <a:rPr lang="en-US" sz="13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兜底拒答：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若检索结果为空，必须触发预设的拒答流程，不编造答案。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08000" y="5334000"/>
            <a:ext cx="11176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85800" y="5461000"/>
            <a:ext cx="1079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标准化兜底拒答话术：</a:t>
            </a:r>
            <a:endParaRPr lang="en-US" sz="1800"/>
          </a:p>
          <a:p>
            <a:pPr marL="0" indent="0" algn="l">
              <a:lnSpc>
                <a:spcPct val="108000"/>
              </a:lnSpc>
            </a:pPr>
            <a:r>
              <a:rPr lang="en-US" sz="1600" b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en-US" sz="1600" b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抱歉，本地知识库中暂无关于该问题的相关数据，我无法为您提供专业解答。为了您的健康安全，建议您咨询专业的医疗人员或补充更具体的问题描述，我将尽力为您检索相关信息。”</a:t>
            </a:r>
            <a:endParaRPr lang="en-US" sz="1600" b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D948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3175000" cy="3175000"/>
          </a:xfrm>
          <a:prstGeom prst="ellipse">
            <a:avLst/>
          </a:prstGeom>
          <a:solidFill>
            <a:srgbClr val="0D948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 RAG —— 检索增强生成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先检索、后生成 —— 让大模型「开卷考试」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794000"/>
            <a:ext cx="5397500" cy="2667000"/>
          </a:xfrm>
          <a:prstGeom prst="roundRect">
            <a:avLst>
              <a:gd name="adj" fmla="val 0"/>
            </a:avLst>
          </a:prstGeom>
          <a:solidFill>
            <a:srgbClr val="FEE2E2">
              <a:alpha val="40000"/>
            </a:srgbClr>
          </a:solidFill>
          <a:ln w="12700" cap="flat" cmpd="sng">
            <a:solidFill>
              <a:srgbClr val="EF4444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9845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纯大模型：传统生成的局限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3619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3581400"/>
            <a:ext cx="4635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幻觉频发：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脱离真实数据约束，易编造虚假事实或错误信息，缺乏事实依据支撑。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4254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143000" y="4216400"/>
            <a:ext cx="4635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回答不可靠：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逻辑推理易出现偏差，尤其在专业领域，错误回答可能造成严重后果。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4889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143000" y="4851400"/>
            <a:ext cx="4635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无法溯源：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无法追踪信息的原始出处，难以验证答案的真实性，责任界定模糊。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86500" y="2794000"/>
            <a:ext cx="5397500" cy="2667000"/>
          </a:xfrm>
          <a:prstGeom prst="roundRect">
            <a:avLst>
              <a:gd name="adj" fmla="val 0"/>
            </a:avLst>
          </a:prstGeom>
          <a:solidFill>
            <a:srgbClr val="D1FAE5">
              <a:alpha val="40000"/>
            </a:srgbClr>
          </a:solidFill>
          <a:ln w="12700" cap="flat" cmpd="sng">
            <a:solidFill>
              <a:srgbClr val="10B98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29845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 架构：检索增强的核心优势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3619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3581400"/>
            <a:ext cx="4635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事实锚定：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基于外部权威知识库实时检索，答案严格匹配真实数据，源头杜绝编造。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4254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4216400"/>
            <a:ext cx="4635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来源可查：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清晰标注信息引用的具体文档与章节，实现回答的全程可追溯，提升信任。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48895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851400"/>
            <a:ext cx="4635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可控可靠：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结合专业医疗知识库，确保输出符合行业规范，保障医疗建议的安全合规。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" y="5842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本项目正是通过引入 RAG 检索增强生成技术，将大模型与权威医疗知识库深度结合，从根本上解决传统模型的幻觉问题，为医疗问答提供真实、可靠、可溯源的专业支撑。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0" y="5080000"/>
            <a:ext cx="3810000" cy="3810000"/>
          </a:xfrm>
          <a:prstGeom prst="ellipse">
            <a:avLst/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38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 —— RAG 整体流程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CCFBF1">
              <a:alpha val="6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" y="1371600"/>
            <a:ext cx="520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用户交互输入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用户通过前端界面输入自然语言医疗咨询问题，系统接收原始文本并进行基础的清洗与规范化处理，作为流程的起点。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270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CCFBF1">
              <a:alpha val="6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0" y="1371600"/>
            <a:ext cx="520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Agent 意图解析与分发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医疗专属 Agent 识别用户问题的核心意图，判断是否为专业医疗咨询，触发对应的检索增强生成（RAG）任务流。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" y="2540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CCFBF1">
              <a:alpha val="6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" y="2641600"/>
            <a:ext cx="520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触发知识库检索工具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调用 search_medical_knowledge 工具，将解析后的用户问题转化为检索向量，发起对医疗知识库的检索请求。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2540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CCFBF1">
              <a:alpha val="6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2641600"/>
            <a:ext cx="520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FAISS 高效向量匹配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text-embedding-v2 模型生成的语义向量，在 FAISS 索引库中进行近似最近邻搜索，召回 Top-K 最相似的医疗文档片段。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45000" y="3810000"/>
            <a:ext cx="3402965" cy="798830"/>
          </a:xfrm>
          <a:prstGeom prst="diamond">
            <a:avLst/>
          </a:prstGeom>
          <a:solidFill>
            <a:srgbClr val="0D9488">
              <a:alpha val="10000"/>
            </a:srgbClr>
          </a:solidFill>
          <a:ln w="25400" cap="flat" cmpd="sng">
            <a:solidFill>
              <a:srgbClr val="0D948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45000" y="38989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15E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核心阈值判断：相似度 ≥ 0.5？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4699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DCFCE7">
              <a:alpha val="4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" y="4800600"/>
            <a:ext cx="520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有命中：知识注入与生成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将召回的参考资料作为上下文，传递给通义千问 (qwen-plus, temp=0)，强制模型仅基于给定资料生成回答，确保来源可查。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4699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EE2E2">
              <a:alpha val="4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00" y="4800600"/>
            <a:ext cx="520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无命中：安全兜底拒答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若无匹配结果或置信度不足，系统触发兜底策略，返回标准化合规话术，明确建议用户咨询专业医师，规避幻觉风险。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5969000"/>
            <a:ext cx="11176000" cy="508000"/>
          </a:xfrm>
          <a:prstGeom prst="roundRect">
            <a:avLst>
              <a:gd name="adj" fmla="val 0"/>
            </a:avLst>
          </a:prstGeom>
          <a:solidFill>
            <a:srgbClr val="0D948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" y="60452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模型配置说明：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向量化模型采用 text-embedding-v2 进行语义转换；对话生成模型使用 qwen-plus，设置 temperature=0 以保证输出的确定性与严谨性。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14B8A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14B8A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34E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项目模块设计 —— 分层解耦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2286000" cy="431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" y="1841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全局配置层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22860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config.py (配置中枢)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1485">
            <a:off x="635020" y="2660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5000" y="2857500"/>
            <a:ext cx="203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📍     系统路径与环境配置</a:t>
            </a:r>
            <a:b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🧠     大模型参数与密钥</a:t>
            </a:r>
            <a:b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⚖️ 业务规则阈值设定</a:t>
            </a:r>
            <a:b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🗣️ 多语言文案管理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" y="5080000"/>
            <a:ext cx="2032000" cy="762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98500" y="5207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作为独立配置源，动态注入至核心逻辑与数据层，实现配置与业务分离。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048000" y="1651000"/>
            <a:ext cx="5588000" cy="952500"/>
          </a:xfrm>
          <a:prstGeom prst="roundRect">
            <a:avLst>
              <a:gd name="adj" fmla="val 0"/>
            </a:avLst>
          </a:prstGeom>
          <a:solidFill>
            <a:srgbClr val="CCFBF1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8500" y="1803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683000" y="1778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统一入口层 main.py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238500" y="21082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应用启动总控，支持三种模式一键切换：Build 构建模式 / CLI 纯命令行模式 / Web 服务模式，实现入口收敛与环境隔离。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48000" y="2730500"/>
            <a:ext cx="5588000" cy="952500"/>
          </a:xfrm>
          <a:prstGeom prst="roundRect">
            <a:avLst>
              <a:gd name="adj" fmla="val 0"/>
            </a:avLst>
          </a:prstGeom>
          <a:solidFill>
            <a:srgbClr val="99F6E4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28829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3683000" y="285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交互适配层 (cli.py + web.py)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238500" y="3192145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提供多端交互能力：CLI 轻量终端适合服务器/脚本场景；Gradio Web 界面提供可视化交互，降低用户使用门槛。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048000" y="3810000"/>
            <a:ext cx="5588000" cy="952500"/>
          </a:xfrm>
          <a:prstGeom prst="roundRect">
            <a:avLst>
              <a:gd name="adj" fmla="val 0"/>
            </a:avLst>
          </a:prstGeom>
          <a:solidFill>
            <a:srgbClr val="5EEAD4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8500" y="3962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3683000" y="3937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智能核心层 agent.py (业务中枢)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175635" y="4294505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RAG 文档检索增强、智能 Agent 任务调度、业务规则引擎与用户意图识别，是处理复杂逻辑的核心大脑。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048000" y="4889500"/>
            <a:ext cx="5588000" cy="952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38500" y="50419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3683000" y="5016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数据基座层 knowledge_base.py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238500" y="535051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负责多源文档解析 (PDF/MD/TXT)、向量数据库索引构建与维护、知识库的增删改查，为上层提供可靠数据支持。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90000" y="1651000"/>
            <a:ext cx="2794000" cy="4318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B923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80500" y="18415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525000" y="1841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架构设计亮点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080500" y="2476500"/>
            <a:ext cx="2413000" cy="825500"/>
          </a:xfrm>
          <a:prstGeom prst="roundRect">
            <a:avLst>
              <a:gd name="adj" fmla="val 0"/>
            </a:avLst>
          </a:prstGeom>
          <a:solidFill>
            <a:srgbClr val="FFEDD5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144000" y="2540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业务逻辑归一化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C2D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核心业务逻辑仅需维护一份，彻底避免多端代码冗余，降低维护成本。</a:t>
            </a:r>
            <a:endParaRPr lang="en-US" sz="1200" b="0" i="0" u="none" strike="noStrike">
              <a:solidFill>
                <a:srgbClr val="7C2D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080500" y="3429000"/>
            <a:ext cx="2413000" cy="825500"/>
          </a:xfrm>
          <a:prstGeom prst="roundRect">
            <a:avLst>
              <a:gd name="adj" fmla="val 0"/>
            </a:avLst>
          </a:prstGeom>
          <a:solidFill>
            <a:srgbClr val="FFEDD5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144000" y="3492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展示层轻量化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C2D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界面只是“交互外壳”，负责数据展示与指令传递，不包含任何业务逻辑。</a:t>
            </a:r>
            <a:endParaRPr lang="en-US" sz="1200" b="0" i="0" u="none" strike="noStrike">
              <a:solidFill>
                <a:srgbClr val="7C2D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080500" y="4381500"/>
            <a:ext cx="2413000" cy="825500"/>
          </a:xfrm>
          <a:prstGeom prst="roundRect">
            <a:avLst>
              <a:gd name="adj" fmla="val 0"/>
            </a:avLst>
          </a:prstGeom>
          <a:solidFill>
            <a:srgbClr val="FFEDD5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144000" y="4445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高扩展性与灵活度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C2D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未来新增移动端、API接口等入口，无需重构底层，即插即用。</a:t>
            </a:r>
            <a:endParaRPr lang="en-US" sz="1200" b="0" i="0" u="none" strike="noStrike">
              <a:solidFill>
                <a:srgbClr val="7C2D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9080500" y="53975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“逻辑是核，界面是壳”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-171744">
            <a:off x="2794159" y="4273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dash"/>
            <a:round/>
            <a:headEnd type="none" w="med" len="med"/>
            <a:tailEnd type="arrow" w="sm" len="sm"/>
          </a:ln>
        </p:spPr>
      </p:cxnSp>
      <p:cxnSp>
        <p:nvCxnSpPr>
          <p:cNvPr id="39" name="Connector 39"/>
          <p:cNvCxnSpPr/>
          <p:nvPr/>
        </p:nvCxnSpPr>
        <p:spPr>
          <a:xfrm rot="-171744">
            <a:off x="2794159" y="5353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dash"/>
            <a:round/>
            <a:headEnd type="none" w="med" len="med"/>
            <a:tailEnd type="arrow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13C2C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13C2C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3C2C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难点一 · 三类异构数据统一处理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206500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多源异构数据输入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651000"/>
            <a:ext cx="1727200" cy="1143000"/>
          </a:xfrm>
          <a:prstGeom prst="roundRect">
            <a:avLst>
              <a:gd name="adj" fmla="val 0"/>
            </a:avLst>
          </a:prstGeom>
          <a:solidFill>
            <a:srgbClr val="13C2C2">
              <a:alpha val="8000"/>
            </a:srgbClr>
          </a:solidFill>
          <a:ln w="12700" cap="flat" cmpd="sng">
            <a:solidFill>
              <a:srgbClr val="13C2C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71500" y="1752600"/>
            <a:ext cx="160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3C2C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 · JSON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disease_encyclopedia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字段规范，含疾病名、症状、治疗方案等结构化信息</a:t>
            </a:r>
            <a:endParaRPr lang="en-US" sz="1100" b="0" i="0" u="none" strike="noStrike">
              <a:solidFill>
                <a:srgbClr val="88888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438400" y="1651000"/>
            <a:ext cx="1727200" cy="1143000"/>
          </a:xfrm>
          <a:prstGeom prst="roundRect">
            <a:avLst>
              <a:gd name="adj" fmla="val 0"/>
            </a:avLst>
          </a:prstGeom>
          <a:solidFill>
            <a:srgbClr val="13C2C2">
              <a:alpha val="8000"/>
            </a:srgbClr>
          </a:solidFill>
          <a:ln w="12700" cap="flat" cmpd="sng">
            <a:solidFill>
              <a:srgbClr val="13C2C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501900" y="1752600"/>
            <a:ext cx="160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3C2C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半结构化 · MD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drug_manuals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层级标题清晰，含药品成分、适应症等混合内容</a:t>
            </a:r>
            <a:endParaRPr lang="en-US" sz="1100" b="0" i="0" u="none" strike="noStrike">
              <a:solidFill>
                <a:srgbClr val="88888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68800" y="1651000"/>
            <a:ext cx="1727200" cy="1143000"/>
          </a:xfrm>
          <a:prstGeom prst="roundRect">
            <a:avLst>
              <a:gd name="adj" fmla="val 0"/>
            </a:avLst>
          </a:prstGeom>
          <a:solidFill>
            <a:srgbClr val="13C2C2">
              <a:alpha val="8000"/>
            </a:srgbClr>
          </a:solidFill>
          <a:ln w="12700" cap="flat" cmpd="sng">
            <a:solidFill>
              <a:srgbClr val="13C2C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32300" y="1752600"/>
            <a:ext cx="160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3C2C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非结构化 · TXT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patient_faq.txt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纯文本医患对话，无固定格式，依赖段落分隔</a:t>
            </a:r>
            <a:endParaRPr lang="en-US" sz="1100" b="0" i="0" u="none" strike="noStrike">
              <a:solidFill>
                <a:srgbClr val="88888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08000" y="3175000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标准化与向量化处理流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3683000"/>
            <a:ext cx="1727200" cy="1714500"/>
          </a:xfrm>
          <a:prstGeom prst="roundRect">
            <a:avLst>
              <a:gd name="adj" fmla="val 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13C2C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3810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14400" y="3784600"/>
            <a:ext cx="1333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统一文档化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71500" y="4191000"/>
            <a:ext cx="160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清洗噪声数据，统一为“正文+Metadata”格式，确保所有输入数据结构一致，便于后续处理。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438400" y="3683000"/>
            <a:ext cx="1727200" cy="1714500"/>
          </a:xfrm>
          <a:prstGeom prst="roundRect">
            <a:avLst>
              <a:gd name="adj" fmla="val 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13C2C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0000" y="3810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844800" y="3784600"/>
            <a:ext cx="1333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深度向量化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501900" y="4191000"/>
            <a:ext cx="160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调用通义千问 text-embedding-v2 模型，将文本转化为768维稠密向量，精准捕捉语义特征。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68800" y="3683000"/>
            <a:ext cx="1727200" cy="1714500"/>
          </a:xfrm>
          <a:prstGeom prst="roundRect">
            <a:avLst>
              <a:gd name="adj" fmla="val 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13C2C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0400" y="38100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775200" y="3784600"/>
            <a:ext cx="1333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向量库入库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32300" y="4191000"/>
            <a:ext cx="160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 FAISS 索引，将向量数据持久化存储，支持毫秒级的相似度检索与召回。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1651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00" y="1651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3C2C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18034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85000" y="17526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JSON：结构化字段重构为自然文本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解析JSON Schema，将“名称、症状、治疗”等离散字段按预设模板拼接为通顺的百科式描述，确保机器能理解完整的上下文语义，而非孤立的关键词。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350000" y="3048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350000" y="3048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3C2C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32004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985000" y="31496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Markdown：利用层级标题精准切分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以“## 药品名”为分割锚点，自动将长文档拆分为独立的单药品文档；保留“### 不良反应”等子层级，维持说明书的结构完整性与可读性。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350000" y="45085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350000" y="4445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3C2C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45974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6985000" y="45466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TXT：基于空行的问答组聚类降噪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利用空行作为天然分隔符，将连续文本切割为“问+答”的独立对话单元；清洗无意义的语气词和冗余标点，确保每一条问答对都能被准确索引。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508000" y="5842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13C2C2">
              <a:alpha val="8000"/>
            </a:srgbClr>
          </a:solidFill>
          <a:ln w="12700" cap="flat" cmpd="sng">
            <a:solidFill>
              <a:srgbClr val="13C2C2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35000" y="5905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疾病百科收录</a:t>
            </a:r>
            <a:r>
              <a:rPr lang="en-US" sz="2000" b="1" i="0" u="none" strike="noStrike">
                <a:solidFill>
                  <a:srgbClr val="13C2C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篇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3302000" y="6032500"/>
            <a:ext cx="12700" cy="381000"/>
          </a:xfrm>
          <a:prstGeom prst="roundRect">
            <a:avLst>
              <a:gd name="adj" fmla="val 0"/>
            </a:avLst>
          </a:prstGeom>
          <a:solidFill>
            <a:srgbClr val="00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3429000" y="5905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药品手册整理</a:t>
            </a:r>
            <a:r>
              <a:rPr lang="en-US" sz="2000" b="1" i="0" u="none" strike="noStrike">
                <a:solidFill>
                  <a:srgbClr val="13C2C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篇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096000" y="6032500"/>
            <a:ext cx="12700" cy="381000"/>
          </a:xfrm>
          <a:prstGeom prst="roundRect">
            <a:avLst>
              <a:gd name="adj" fmla="val 0"/>
            </a:avLst>
          </a:prstGeom>
          <a:solidFill>
            <a:srgbClr val="00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6223000" y="5905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医患问答聚类</a:t>
            </a:r>
            <a:r>
              <a:rPr lang="en-US" sz="2000" b="1" i="0" u="none" strike="noStrike">
                <a:solidFill>
                  <a:srgbClr val="13C2C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890000" y="6032500"/>
            <a:ext cx="12700" cy="381000"/>
          </a:xfrm>
          <a:prstGeom prst="roundRect">
            <a:avLst>
              <a:gd name="adj" fmla="val 0"/>
            </a:avLst>
          </a:prstGeom>
          <a:solidFill>
            <a:srgbClr val="00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9017000" y="5905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总入库文档</a:t>
            </a:r>
            <a:r>
              <a:rPr lang="en-US" sz="2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41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6B6D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6B6D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难点二 · 相似度阈值过滤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6B6D4">
              <a:alpha val="8000"/>
            </a:srgbClr>
          </a:solidFill>
          <a:ln w="12700" cap="flat" cmpd="sng">
            <a:solidFill>
              <a:srgbClr val="06B6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98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891B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原始数据的痛点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" y="23495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FAISS 默认返回 L2 距离数值，其结果范围不固定，无法直观体现匹配紧密程度。若直接以 0.5 作为阈值，缺乏明确的语义解释，容易导致过滤规则模糊，无法精准区分“有效匹配”与“无效匹配”。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1651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6B6D4">
              <a:alpha val="15000"/>
            </a:srgbClr>
          </a:solidFill>
          <a:ln w="12700" cap="flat" cmpd="sng">
            <a:solidFill>
              <a:srgbClr val="06B6D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08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5E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关键转换公式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08500" y="2413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余弦相似度 = 1 - 距离 / 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3302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前提条件：必须对向量执行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归一化 (normalize_L2=True)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，此时计算出的 L2 距离与余弦距离等价，公式方可成立。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6B6D4">
              <a:alpha val="8000"/>
            </a:srgbClr>
          </a:solidFill>
          <a:ln w="12700" cap="flat" cmpd="sng">
            <a:solidFill>
              <a:srgbClr val="06B6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18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891B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优化后的价值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3495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区间标准化：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结果映射至 0~1 区间，0.5 代表“中等匹配度”，阈值含义清晰；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智能拒答：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低于 0.5 的低匹配结果直接过滤，触发拒答机制，从源头避免低质回复。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4826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阈值判定逻辑可视化：0.5 作为“有效匹配”的分水岭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5397500"/>
            <a:ext cx="5524500" cy="9525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" y="5524500"/>
            <a:ext cx="527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🚫 过滤 · 拒答区（相似度 &lt; 0.5）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向量匹配度未达标，直接阻断请求，防止模型生成不相关或错误的回答。</a:t>
            </a:r>
            <a:endParaRPr lang="en-US" sz="1300" b="0" i="0" u="none" strike="noStrike">
              <a:solidFill>
                <a:srgbClr val="7F1D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59500" y="5397500"/>
            <a:ext cx="5524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86500" y="5524500"/>
            <a:ext cx="527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命中 · 回答区（相似度 ≥ 0.5）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453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匹配度满足预设要求，进入正常回答流程，保障输出内容的相关性与准确性。</a:t>
            </a:r>
            <a:endParaRPr lang="en-US" sz="1300" b="0" i="0" u="none" strike="noStrike">
              <a:solidFill>
                <a:srgbClr val="1453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DC2C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DC2C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DA2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难点三 · 把规则「焊死」进 Agent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33" y="1473238"/>
            <a:ext cx="1905000" cy="635000"/>
          </a:xfrm>
          <a:prstGeom prst="roundRect">
            <a:avLst>
              <a:gd name="adj" fmla="val 0"/>
            </a:avLst>
          </a:prstGeom>
          <a:solidFill>
            <a:srgbClr val="0DC2C2">
              <a:alpha val="10000"/>
            </a:srgbClr>
          </a:solidFill>
          <a:ln w="25400" cap="flat" cmpd="sng">
            <a:solidFill>
              <a:srgbClr val="0DC2C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收到医疗咨询问题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2475723" y="1790780"/>
            <a:ext cx="282478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7" name="AutoShape 7"/>
          <p:cNvSpPr/>
          <p:nvPr/>
        </p:nvSpPr>
        <p:spPr>
          <a:xfrm>
            <a:off x="2820889" y="1473197"/>
            <a:ext cx="1905000" cy="635000"/>
          </a:xfrm>
          <a:prstGeom prst="roundRect">
            <a:avLst>
              <a:gd name="adj" fmla="val 0"/>
            </a:avLst>
          </a:prstGeom>
          <a:solidFill>
            <a:srgbClr val="0DC2C2">
              <a:alpha val="10000"/>
            </a:srgbClr>
          </a:solidFill>
          <a:ln w="25400" cap="flat" cmpd="sng">
            <a:solidFill>
              <a:srgbClr val="0DC2C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强制调用检索工具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285450">
            <a:off x="3253365" y="2394051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9" name="AutoShape 9"/>
          <p:cNvSpPr/>
          <p:nvPr/>
        </p:nvSpPr>
        <p:spPr>
          <a:xfrm>
            <a:off x="2045215" y="2691309"/>
            <a:ext cx="2797360" cy="764371"/>
          </a:xfrm>
          <a:prstGeom prst="diamond">
            <a:avLst/>
          </a:prstGeom>
          <a:solidFill>
            <a:srgbClr val="2ED573">
              <a:alpha val="10000"/>
            </a:srgbClr>
          </a:solidFill>
          <a:ln w="25400" cap="flat" cmpd="sng">
            <a:solidFill>
              <a:srgbClr val="2ED573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工具返回有效内容？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14549">
            <a:off x="4980597" y="3067207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1" name="AutoShape 11"/>
          <p:cNvSpPr/>
          <p:nvPr/>
        </p:nvSpPr>
        <p:spPr>
          <a:xfrm>
            <a:off x="4434531" y="3335192"/>
            <a:ext cx="2159000" cy="825500"/>
          </a:xfrm>
          <a:prstGeom prst="roundRect">
            <a:avLst>
              <a:gd name="adj" fmla="val 0"/>
            </a:avLst>
          </a:prstGeom>
          <a:solidFill>
            <a:srgbClr val="0DC2C2">
              <a:alpha val="8000"/>
            </a:srgbClr>
          </a:solidFill>
          <a:ln w="12700" cap="flat" cmpd="sng">
            <a:solidFill>
              <a:srgbClr val="0DC2C2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仅依据资料回答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禁止预训练知识补充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228255">
            <a:off x="5387018" y="4281492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3" name="AutoShape 13"/>
          <p:cNvSpPr/>
          <p:nvPr/>
        </p:nvSpPr>
        <p:spPr>
          <a:xfrm>
            <a:off x="4434510" y="4508483"/>
            <a:ext cx="2159000" cy="698500"/>
          </a:xfrm>
          <a:prstGeom prst="roundRect">
            <a:avLst>
              <a:gd name="adj" fmla="val 0"/>
            </a:avLst>
          </a:prstGeom>
          <a:solidFill>
            <a:srgbClr val="0DC2C2">
              <a:alpha val="8000"/>
            </a:srgbClr>
          </a:solidFill>
          <a:ln w="12700" cap="flat" cmpd="sng">
            <a:solidFill>
              <a:srgbClr val="0DC2C2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输出答案 + 来源标注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并建议线下遵医嘱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10685450">
            <a:off x="1524081" y="3067177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5" name="AutoShape 15"/>
          <p:cNvSpPr/>
          <p:nvPr/>
        </p:nvSpPr>
        <p:spPr>
          <a:xfrm>
            <a:off x="359151" y="3335192"/>
            <a:ext cx="2032000" cy="825500"/>
          </a:xfrm>
          <a:prstGeom prst="roundRect">
            <a:avLst>
              <a:gd name="adj" fmla="val 0"/>
            </a:avLst>
          </a:prstGeom>
          <a:solidFill>
            <a:srgbClr val="F56C6C">
              <a:alpha val="8000"/>
            </a:srgbClr>
          </a:solidFill>
          <a:ln w="12700" cap="flat" cmpd="sng">
            <a:solidFill>
              <a:srgbClr val="F56C6C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返回无结果标记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触发拒答逻辑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228255">
            <a:off x="1248151" y="4281492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7" name="AutoShape 17"/>
          <p:cNvSpPr/>
          <p:nvPr/>
        </p:nvSpPr>
        <p:spPr>
          <a:xfrm>
            <a:off x="381025" y="4508483"/>
            <a:ext cx="2032000" cy="698500"/>
          </a:xfrm>
          <a:prstGeom prst="roundRect">
            <a:avLst>
              <a:gd name="adj" fmla="val 0"/>
            </a:avLst>
          </a:prstGeom>
          <a:solidFill>
            <a:srgbClr val="F56C6C">
              <a:alpha val="15000"/>
            </a:srgbClr>
          </a:solidFill>
          <a:ln w="25400" cap="flat" cmpd="sng">
            <a:solidFill>
              <a:srgbClr val="F56C6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执行固定话术：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“无相关资料，绝不臆造”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" y="5524500"/>
            <a:ext cx="6794500" cy="508000"/>
          </a:xfrm>
          <a:prstGeom prst="roundRect">
            <a:avLst>
              <a:gd name="adj" fmla="val 0"/>
            </a:avLst>
          </a:prstGeom>
          <a:solidFill>
            <a:srgbClr val="0DC2C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A2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核心逻辑：Agent 只做“信息的搬运工”，不做“内容的创作者”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"/>
            </p:custDataLst>
          </p:nvPr>
        </p:nvSpPr>
        <p:spPr>
          <a:xfrm>
            <a:off x="6881078" y="1269958"/>
            <a:ext cx="2349500" cy="1968500"/>
          </a:xfrm>
          <a:prstGeom prst="roundRect">
            <a:avLst>
              <a:gd name="adj" fmla="val 0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08078" y="1396958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5"/>
            </p:custDataLst>
          </p:nvPr>
        </p:nvSpPr>
        <p:spPr>
          <a:xfrm>
            <a:off x="7325578" y="1371558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C2C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系统提示词硬约束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6"/>
            </p:custDataLst>
          </p:nvPr>
        </p:nvSpPr>
        <p:spPr>
          <a:xfrm>
            <a:off x="7008078" y="1841458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将“仅用检索结果、严禁编造”写入 System Prompt，从 LLM 输入端确立不可逾越的规则红线。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7"/>
            </p:custDataLst>
          </p:nvPr>
        </p:nvSpPr>
        <p:spPr>
          <a:xfrm>
            <a:off x="9294078" y="1269958"/>
            <a:ext cx="2349500" cy="1968500"/>
          </a:xfrm>
          <a:prstGeom prst="roundRect">
            <a:avLst>
              <a:gd name="adj" fmla="val 0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21078" y="1396958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11"/>
            </p:custDataLst>
          </p:nvPr>
        </p:nvSpPr>
        <p:spPr>
          <a:xfrm>
            <a:off x="9738578" y="1371558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6C6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零容忍拒答机制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12"/>
            </p:custDataLst>
          </p:nvPr>
        </p:nvSpPr>
        <p:spPr>
          <a:xfrm>
            <a:off x="9421078" y="1841458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一旦检索工具返回空值或异常标记，Agent 必须原样输出预设的拒答话术，切断任何生成式回答的可能。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13"/>
            </p:custDataLst>
          </p:nvPr>
        </p:nvSpPr>
        <p:spPr>
          <a:xfrm>
            <a:off x="6881078" y="3428958"/>
            <a:ext cx="2349500" cy="1968500"/>
          </a:xfrm>
          <a:prstGeom prst="roundRect">
            <a:avLst>
              <a:gd name="adj" fmla="val 0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08078" y="3555958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>
            <p:custDataLst>
              <p:tags r:id="rId17"/>
            </p:custDataLst>
          </p:nvPr>
        </p:nvSpPr>
        <p:spPr>
          <a:xfrm>
            <a:off x="7325578" y="3530558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C2C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屏蔽预训练扩写</a:t>
            </a:r>
            <a:endParaRPr lang="en-US" sz="1100"/>
          </a:p>
        </p:txBody>
      </p:sp>
      <p:sp>
        <p:nvSpPr>
          <p:cNvPr id="30" name="AutoShape 30"/>
          <p:cNvSpPr/>
          <p:nvPr>
            <p:custDataLst>
              <p:tags r:id="rId18"/>
            </p:custDataLst>
          </p:nvPr>
        </p:nvSpPr>
        <p:spPr>
          <a:xfrm>
            <a:off x="7008078" y="4000458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禁止模型调用自身参数库进行“合理推断”或润色，确保输出内容100%可追溯，拒绝“一本正经地胡说八道”。</a:t>
            </a:r>
            <a:endParaRPr lang="en-US" sz="1100"/>
          </a:p>
        </p:txBody>
      </p:sp>
      <p:sp>
        <p:nvSpPr>
          <p:cNvPr id="31" name="AutoShape 31"/>
          <p:cNvSpPr/>
          <p:nvPr>
            <p:custDataLst>
              <p:tags r:id="rId19"/>
            </p:custDataLst>
          </p:nvPr>
        </p:nvSpPr>
        <p:spPr>
          <a:xfrm>
            <a:off x="9294078" y="3428958"/>
            <a:ext cx="2349500" cy="1968500"/>
          </a:xfrm>
          <a:prstGeom prst="roundRect">
            <a:avLst>
              <a:gd name="adj" fmla="val 0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21078" y="3555958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>
            <p:custDataLst>
              <p:tags r:id="rId23"/>
            </p:custDataLst>
          </p:nvPr>
        </p:nvSpPr>
        <p:spPr>
          <a:xfrm>
            <a:off x="9738578" y="3530558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C2C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框架级执行锁定</a:t>
            </a:r>
            <a:endParaRPr lang="en-US" sz="1100"/>
          </a:p>
        </p:txBody>
      </p:sp>
      <p:sp>
        <p:nvSpPr>
          <p:cNvPr id="34" name="AutoShape 34"/>
          <p:cNvSpPr/>
          <p:nvPr>
            <p:custDataLst>
              <p:tags r:id="rId24"/>
            </p:custDataLst>
          </p:nvPr>
        </p:nvSpPr>
        <p:spPr>
          <a:xfrm>
            <a:off x="9421078" y="4000458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LangChain 1.x 的 create_agent 新 API，将工具调用逻辑代码化，实现“规则即代码”，避免逻辑绕开。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效果演示 · 现场 Demo</a:t>
            </a:r>
            <a:endParaRPr lang="en-US" sz="1100"/>
          </a:p>
        </p:txBody>
      </p:sp>
      <p:pic>
        <p:nvPicPr>
          <p:cNvPr id="31" name="视频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32000" y="1518920"/>
            <a:ext cx="8128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540000" cy="2540000"/>
          </a:xfrm>
          <a:prstGeom prst="ellipse">
            <a:avLst/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334000"/>
            <a:ext cx="1905000" cy="1905000"/>
          </a:xfrm>
          <a:prstGeom prst="ellipse">
            <a:avLst/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测试验证结论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08000" y="1524000"/>
          <a:ext cx="11176000" cy="3492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810000"/>
                <a:gridCol w="4826000"/>
                <a:gridCol w="2540000"/>
              </a:tblGrid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766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BF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766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BF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766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符合规则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BF1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① 二甲双胍漏服要补双倍？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明确回复“不能补双倍”，建议按常规剂量补服或遵医嘱，避免低血糖风险。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✅ 符合预期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5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② 2型糖尿病有哪些典型症状？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准确列举“三多一少”（多饮、多食、多尿、体重减轻），并补充乏力、视力模糊等伴随症状。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✅ 符合预期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③ 孕妇能吃布洛芬吗？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明确警示“孕妇禁用”，并说明可能对胎儿心血管系统造成影响，建议就医遵医嘱。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✅ 符合预期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5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④ 氨氯地平什么时间吃最好？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建议“早晨起床后空腹服用”，以匹配人体清晨血压高峰，达到最佳降压效果。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✅ 符合预期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⑤ 今天北京天气怎么样？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触发预设拒答话术：“目前无法为您提供实时天气查询服务，建议您通过天气APP查询。”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✅ 符合预期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508000" y="5334000"/>
            <a:ext cx="11176000" cy="12065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5461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 综合验证结论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816600"/>
            <a:ext cx="1066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在药品知识问答场景中表现优异，检索命中时严格依据权威知识库进行准确回答，无信息编造或歪曲；面对超出知识范围的非医疗问题（如天气查询），能够精准触发拒答机制，未出现幻觉回答。验证结果表明模型在安全性与准确性上均达到预期标准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175000" cy="3175000"/>
          </a:xfrm>
          <a:prstGeom prst="ellipse">
            <a:avLst/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开发踩坑与解决 · 工程能力亮点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34671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4B8A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98500" y="19050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踩坑实录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" y="2413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LangChain 1.2 旧API 移除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" y="3048000"/>
            <a:ext cx="3086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升级后 AgentExecutor 核心类导入直接报错，旧版初始化逻辑完全失效，导致智能体调用链路中断，服务无法启动。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147">
            <a:off x="698513" y="4121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" y="42545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解决方案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8500" y="4635500"/>
            <a:ext cx="3086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重构代码适配 create_agent 新接口，基于 LangGraph 重构执行流；统一输入输出为 Messages 消息列表格式，彻底解决版本兼容问题。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56100" y="1651000"/>
            <a:ext cx="34671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4B8A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46600" y="19050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踩坑实录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46600" y="2413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FAISS 检索阈值无参考意义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46600" y="3048000"/>
            <a:ext cx="3086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L2 距离检索时数值波动范围极大，无法设定有效判定阈值，导致召回结果的相关性难以量化，影响业务判断准确性。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147">
            <a:off x="4546613" y="4121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46600" y="42545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解决方案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46600" y="4635500"/>
            <a:ext cx="3086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对入库向量进行 L2 归一化处理，将距离值映射为 0~1 区间的余弦相似度；设定 0.5 为通用判定阈值，结果更直观且具备业务解释性。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04200" y="1651000"/>
            <a:ext cx="34671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4B8A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94700" y="19050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踩坑实录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94700" y="2413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 终端中文/Emoji 报错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94700" y="3048000"/>
            <a:ext cx="3086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系统默认 GBK 编码与程序 UTF-8 输出冲突，导致中文日志或表情符号打印时抛出编码异常，引发服务进程意外崩溃。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147">
            <a:off x="8394713" y="4121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394700" y="42545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解决方案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94700" y="4635500"/>
            <a:ext cx="3086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在程序入口处通过 sys.stdout.reconfigure(encoding='utf-8') 强制重设输出编码，覆盖系统默认设置，彻底解决跨平台编码兼容问题。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8000" y="5842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工程启示：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技术选型需建立版本兼容性预案，基础组件层应封装归一化处理逻辑，同时必须充分考虑跨平台环境的底层差异，这是保障系统鲁棒性的关键基石。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cap="flat" cmpd="sng">
            <a:solidFill>
              <a:srgbClr val="00A06B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cap="flat" cmpd="sng">
            <a:solidFill>
              <a:srgbClr val="00A06B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已实现成果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0955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24130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" y="2565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16000" y="2540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异构数据融合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完成病历、影像、检验三类医疗数据的标准化清洗与统一入库，彻底打破医疗数据孤岛。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238500" y="24130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2565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746500" y="2540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智能过滤机制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建立多层级相似度阈值模型，自动过滤低相关度内容，确保回答素材的精准性与相关性。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" y="40640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4216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16000" y="4191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规则约束Agent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内置医疗领域规则引擎，对生成内容进行实时合规校验，从源头拒绝虚假臆造回答。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238500" y="40640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0900" y="4216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3746500" y="4191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双端交互模式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同步支持命令行批量调用与Web可视化交互，满足开发者调试与用户使用的双重需求。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1524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未来可扩展方向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20955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2413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27178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2540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知识库增强：分块与重排优化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扩充医疗知识库规模，引入文档分块(Chunking)与重排(Rerank)技术，提升长文本检索效率与精准度，解决信息过载问题。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350000" y="3556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38608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048500" y="3683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交互升级：记忆与来源溯源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增加多轮对话上下文记忆能力，实现连贯自然的人机交互；增加回答来源引用高亮，让每一条建议都可追溯、更可信。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50000" y="4699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0500" y="50038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048500" y="4826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专业深化：垂直领域与合规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接入更细分的专科医疗知识库，深化垂直领域专业度；引入医疗合规审核模块，确保内容符合行业监管与伦理规范。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508000" y="59055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508000" y="5969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 AI 医疗问答「有据可依、绝不乱说」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cap="flat" cmpd="sng">
            <a:solidFill>
              <a:srgbClr val="00A06B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cap="flat" cmpd="sng">
            <a:solidFill>
              <a:srgbClr val="00A06B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456180" y="2745105"/>
            <a:ext cx="741616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6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谢谢大家的聆听！</a:t>
            </a:r>
            <a:endParaRPr lang="zh-CN" altLang="en-US" sz="66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39*386"/>
  <p:tag name="TABLE_ENDDRAG_RECT" val="43*136*839*386"/>
</p:tagLst>
</file>

<file path=ppt/tags/tag2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3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4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5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6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7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8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9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10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11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12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13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14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15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16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17.xml><?xml version="1.0" encoding="utf-8"?>
<p:tagLst xmlns:p="http://schemas.openxmlformats.org/presentationml/2006/main">
  <p:tag name="KSO_WM_DIAGRAM_VIRTUALLY_FRAME" val="{&quot;height&quot;:324.99999999999994,&quot;left&quot;:541.8171653543307,&quot;top&quot;:99.99669291338583,&quot;width&quot;:375.0000000000001}"/>
</p:tagLst>
</file>

<file path=ppt/tags/tag18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9.xml><?xml version="1.0" encoding="utf-8"?>
<p:tagLst xmlns:p="http://schemas.openxmlformats.org/presentationml/2006/main">
  <p:tag name="resource_record_key" val="{&quot;29&quot;:[50053000,50000268,50000068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5546</Words>
  <Application>WPS 演示</Application>
  <PresentationFormat/>
  <Paragraphs>429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Noto Sans SC</vt:lpstr>
      <vt:lpstr>Times New Roman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攒一袋星星</cp:lastModifiedBy>
  <cp:revision>5</cp:revision>
  <dcterms:created xsi:type="dcterms:W3CDTF">2026-07-14T11:13:00Z</dcterms:created>
  <dcterms:modified xsi:type="dcterms:W3CDTF">2026-07-15T02:11:53Z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{"Label":"1","ContentProducer":"001191110102MACQD9K64010000","ProduceID":"7662313313448561623","ReservedCode1":"","ContentPropagator":"","PropagateID":"","ReservedCode2":""}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09CCAB3E2C4B4E89BECE3AEEFB4097F2_12</vt:lpwstr>
  </property>
</Properties>
</file>